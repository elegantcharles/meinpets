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rlwfXiC4q3m1WNoOOrUBeN1DZ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6B63"/>
              </a:solidFill>
              <a:ln w="25400" cap="flat">
                <a:solidFill>
                  <a:srgbClr val="F1F5F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0A100"/>
              </a:solidFill>
              <a:ln w="25400" cap="flat">
                <a:solidFill>
                  <a:srgbClr val="F1F5F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AA09C"/>
              </a:solidFill>
              <a:ln w="25400" cap="flat">
                <a:solidFill>
                  <a:srgbClr val="F1F5F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Completadas</c:v>
                </c:pt>
                <c:pt idx="1">
                  <c:v>Ajustadas</c:v>
                </c:pt>
                <c:pt idx="2">
                  <c:v>En curso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Buenas. Somos el equipo de MeinPets: Javier, Sebastián y Carlos. Hoy presentamos el avance de la Fase 2 y el informe final de nuestro proyecto de título.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problema es doble: la información de salud de la mascota está repartida, y los mapas generales no distinguen tipos de servicio. MeinPets reúne el cuidado en el teléfono que el dueño siempre lleva.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objetivos específicos mapean directo al producto. Perfiles y calendario están cumplidos; el mapa con geolocalización es la siguiente etapa; las pruebas de usabilidad están en curso.</a:t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sprint dura una semana y cierra en la sesión con la docente, que funciona como revisión de avance. Estamos en la Fase 2, desarrollo incremental por módulos.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Javier lidera y lleva la base de datos, Sebastián es QA, Carlos hace fullstack y despliegue. Trabajamos seis competencias del perfil de egreso.</a:t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 para la app, Express para la API, PostgreSQL con PostGIS para datos geográficos. Todo corre con docker compose. MapLibre y la ubicación son parte del stack del mapa, que es la siguiente etapa.</a:t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27 actividades del plan, 22 están completadas, 3 fueron ajustadas (la base de datos cambió de plazo y responsable) y 2 están en curso: este informe y la prueba de integración con Google Calendar en un teléfono real. En S6 el plan no tenía actividades.</a:t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app tiene 8 pantallas y una API REST completa. La pantalla de ejemplo usa datos de prueba de las mascotas Rocky, Michi y Luna. La pantalla de mapa existe como espacio reservado: es lo que sigue.</a:t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Hay cuatro informes de QA. Todos los hallazgos quedaron registrados como issues con severidad y recomendación. Los resultados de fechas y dosis incluyen casos borde que el equipo debe resolver.</a:t>
            </a:r>
            <a:endParaRPr/>
          </a:p>
        </p:txBody>
      </p:sp>
      <p:sp>
        <p:nvSpPr>
          <p:cNvPr id="311" name="Google Shape;3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obstáculos fueron de coordinación: las prácticas de cada integrante y la ausencia temporal de Javier. Lo manejamos reasignando la base de datos y ajustando el flujo de ramas. La IA se usó siempre con supervisión.</a:t>
            </a:r>
            <a:endParaRPr/>
          </a:p>
        </p:txBody>
      </p:sp>
      <p:sp>
        <p:nvSpPr>
          <p:cNvPr id="338" name="Google Shape;3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Dos ajustes técnicos: Docker para que cualquiera levante el sistema completo con un comando, y GitHub Actions para recompilar el APK en cada push a dev. El workflow está configurado; la primera corrida falló por el secreto de la URL de la API y se resuelve cargándolo.</a:t>
            </a:r>
            <a:endParaRPr/>
          </a:p>
        </p:txBody>
      </p:sp>
      <p:sp>
        <p:nvSpPr>
          <p:cNvPr id="371" name="Google Shape;3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Estas son las evidencias entregadas junto al informe: el APK, el plan de pruebas, cuatro informes de QA, el modelo de datos y el repositorio.</a:t>
            </a:r>
            <a:endParaRPr/>
          </a:p>
        </p:txBody>
      </p:sp>
      <p:sp>
        <p:nvSpPr>
          <p:cNvPr id="410" name="Google Shape;4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 pendiente es el mapa, la prueba en teléfono real y los casos de sesión. Como proyección, nos gustaría que la app se autofinancie con publicidad.</a:t>
            </a:r>
            <a:endParaRPr/>
          </a:p>
        </p:txBody>
      </p:sp>
      <p:sp>
        <p:nvSpPr>
          <p:cNvPr id="458" name="Google Shape;4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Muchas gracias. Quedamos atentos a las preguntas.</a:t>
            </a:r>
            <a:endParaRPr/>
          </a:p>
        </p:txBody>
      </p:sp>
      <p:sp>
        <p:nvSpPr>
          <p:cNvPr id="486" name="Google Shape;4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SCURA">
  <p:cSld name="OSCURA">
    <p:bg>
      <p:bgPr>
        <a:solidFill>
          <a:srgbClr val="084F4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rgbClr val="F1F5F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7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MeinPets · APT122 · Fase 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9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5577840" y="-1463040"/>
            <a:ext cx="5120640" cy="5120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48640" y="640080"/>
            <a:ext cx="3200400" cy="274320"/>
          </a:xfrm>
          <a:prstGeom prst="roundRect">
            <a:avLst>
              <a:gd fmla="val 4333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548640" y="640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FASE 2 · DESARROLLO E INFORME FINAL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48640" y="114300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MeinPets</a:t>
            </a:r>
            <a:endParaRPr b="0" i="0" sz="6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21945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2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CFE8E2"/>
                </a:solidFill>
                <a:latin typeface="Arial"/>
                <a:ea typeface="Arial"/>
                <a:cs typeface="Arial"/>
                <a:sym typeface="Arial"/>
              </a:rPr>
              <a:t>La salud de tu mascota, en un solo lugar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548640" y="3383280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Javier Malhue · Sebastián Altamirano · Carlos Echeverría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FE8E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FE8E2"/>
                </a:solidFill>
                <a:latin typeface="Arial"/>
                <a:ea typeface="Arial"/>
                <a:cs typeface="Arial"/>
                <a:sym typeface="Arial"/>
              </a:rPr>
              <a:t>Proyecto APT122 · Capstone · Ingeniería en Informática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FE8E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FE8E2"/>
                </a:solidFill>
                <a:latin typeface="Arial"/>
                <a:ea typeface="Arial"/>
                <a:cs typeface="Arial"/>
                <a:sym typeface="Arial"/>
              </a:rPr>
              <a:t>Duoc UC, Sede Valparaíso · Octubre 2026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private/tmp/claude-501/-Users-carlosecheverria-Documents-PetMap-claude/a39869a4-d05f-446e-8751-bc81e10d8634/scratchpad/build/logo.png"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00584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5897880" y="3794760"/>
            <a:ext cx="3017520" cy="777240"/>
          </a:xfrm>
          <a:prstGeom prst="roundRect">
            <a:avLst>
              <a:gd fmla="val 1647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carlosecheverria-Documents-PetMap-claude/a39869a4-d05f-446e-8751-bc81e10d8634/scratchpad/build/duoc2.png" id="30" name="Google Shape;3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3886200"/>
            <a:ext cx="2743200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 · RELEVANCIA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carnet de salud que no se pierde</a:t>
            </a:r>
            <a:endParaRPr sz="2800"/>
          </a:p>
        </p:txBody>
      </p:sp>
      <p:sp>
        <p:nvSpPr>
          <p:cNvPr id="38" name="Google Shape;38;p2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783080"/>
            <a:ext cx="548640" cy="54864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920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/>
          <p:nvPr/>
        </p:nvSpPr>
        <p:spPr>
          <a:xfrm>
            <a:off x="1188720" y="17647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Información dispersa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188720" y="20574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Carnets de papel, fotos en el teléfono y la memoria del dueño: se pierden controles de vacunación y desparasitación.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154680"/>
            <a:ext cx="548640" cy="54864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 txBox="1"/>
          <p:nvPr/>
        </p:nvSpPr>
        <p:spPr>
          <a:xfrm>
            <a:off x="1188720" y="3136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Mapas genéricos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1188720" y="34290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Google Maps no distingue entre una veterinaria, un laboratorio o una tienda: encontrar el servicio correcto en una urgencia es lento.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fmla="val 571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5074920" y="16002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Nuestra propuesta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074920" y="196596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FE8E2"/>
                </a:solidFill>
                <a:latin typeface="Arial"/>
                <a:ea typeface="Arial"/>
                <a:cs typeface="Arial"/>
                <a:sym typeface="Arial"/>
              </a:rPr>
              <a:t>Una app móvil para dueños de perros y gatos de la Región de Valparaíso.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74920" y="26974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0932" y="279349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 txBox="1"/>
          <p:nvPr/>
        </p:nvSpPr>
        <p:spPr>
          <a:xfrm>
            <a:off x="5577840" y="26974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Perfil e historial por mascota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074920" y="31546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70932" y="325069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/>
          <p:nvPr/>
        </p:nvSpPr>
        <p:spPr>
          <a:xfrm>
            <a:off x="5577840" y="31546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Vacunas y desparasitaciones con refuerzos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074920" y="36118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70932" y="370789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 txBox="1"/>
          <p:nvPr/>
        </p:nvSpPr>
        <p:spPr>
          <a:xfrm>
            <a:off x="5577840" y="36118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Recordatorios en el calendario del teléfono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074920" y="40690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0932" y="416509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5577840" y="40690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Mapa de servicios cercanos por categoría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 · OBJETIVOS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objetivo general, cuatro específicos</a:t>
            </a:r>
            <a:endParaRPr sz="2800"/>
          </a:p>
        </p:txBody>
      </p:sp>
      <p:sp>
        <p:nvSpPr>
          <p:cNvPr id="70" name="Google Shape;70;p3"/>
          <p:cNvSpPr/>
          <p:nvPr/>
        </p:nvSpPr>
        <p:spPr>
          <a:xfrm>
            <a:off x="457200" y="1325880"/>
            <a:ext cx="8229600" cy="914400"/>
          </a:xfrm>
          <a:prstGeom prst="roundRect">
            <a:avLst>
              <a:gd fmla="val 18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731520" y="14173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31520" y="1627632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Proveer una solución móvil para la gestión integral del cuidado y salud de las mascotas: centralizar información médica, programar alertas y localizar servicios veterinarios cercanos.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2468880"/>
            <a:ext cx="4023360" cy="1005840"/>
          </a:xfrm>
          <a:prstGeom prst="roundRect">
            <a:avLst>
              <a:gd fmla="val 12727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1234440" y="25786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Perfiles de mascotas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234440" y="285292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Registro y administración de perfiles con datos fundamentales e historial.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00400" y="2578608"/>
            <a:ext cx="1143000" cy="237744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3200400" y="2578608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Cumplido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663440" y="2468880"/>
            <a:ext cx="4023360" cy="1005840"/>
          </a:xfrm>
          <a:prstGeom prst="roundRect">
            <a:avLst>
              <a:gd fmla="val 12727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846320" y="265176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5440680" y="25786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Calendario con alertas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5440680" y="285292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Seguimiento de vacunas y desparasitaciones con recordatorios.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406640" y="2578608"/>
            <a:ext cx="1143000" cy="237744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7406640" y="2578608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Cumplido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3611880"/>
            <a:ext cx="4023360" cy="1005840"/>
          </a:xfrm>
          <a:prstGeom prst="roundRect">
            <a:avLst>
              <a:gd fmla="val 12727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1234440" y="37216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 por categoría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234440" y="399592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Geolocalización para ubicar veterinarias, tiendas y peluquerías.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00400" y="3721608"/>
            <a:ext cx="1143000" cy="237744"/>
          </a:xfrm>
          <a:prstGeom prst="roundRect">
            <a:avLst>
              <a:gd fmla="val 50000" name="adj"/>
            </a:avLst>
          </a:prstGeom>
          <a:solidFill>
            <a:srgbClr val="FFF0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3200400" y="3721608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45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4500"/>
                </a:solidFill>
                <a:latin typeface="Arial"/>
                <a:ea typeface="Arial"/>
                <a:cs typeface="Arial"/>
                <a:sym typeface="Arial"/>
              </a:rPr>
              <a:t>Siguiente etapa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663440" y="3611880"/>
            <a:ext cx="4023360" cy="1005840"/>
          </a:xfrm>
          <a:prstGeom prst="roundRect">
            <a:avLst>
              <a:gd fmla="val 12727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846320" y="379476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5440680" y="37216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Pruebas de usabilidad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5440680" y="399592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Validar funcionalidad y experiencia para que sea intuitiva y eficiente.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406640" y="3721608"/>
            <a:ext cx="1143000" cy="23774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406640" y="3721608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 · METODOLOGÍA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con sprints de una semana</a:t>
            </a:r>
            <a:endParaRPr sz="2800"/>
          </a:p>
        </p:txBody>
      </p:sp>
      <p:sp>
        <p:nvSpPr>
          <p:cNvPr id="109" name="Google Shape;109;p4"/>
          <p:cNvSpPr/>
          <p:nvPr/>
        </p:nvSpPr>
        <p:spPr>
          <a:xfrm>
            <a:off x="457200" y="1325880"/>
            <a:ext cx="1920240" cy="1691640"/>
          </a:xfrm>
          <a:prstGeom prst="roundRect">
            <a:avLst>
              <a:gd fmla="val 7568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5956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920240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40080" y="20574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40080" y="2331720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Historias de usuario a partir del backlog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542032" y="1325880"/>
            <a:ext cx="1920240" cy="1691640"/>
          </a:xfrm>
          <a:prstGeom prst="roundRect">
            <a:avLst>
              <a:gd fmla="val 7568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2724912" y="1481328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9212" y="15956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4005072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2724912" y="20574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2724912" y="2331720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Codificación modular e integración de lo priorizado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626864" y="1325880"/>
            <a:ext cx="1920240" cy="1691640"/>
          </a:xfrm>
          <a:prstGeom prst="roundRect">
            <a:avLst>
              <a:gd fmla="val 7568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809744" y="1481328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4044" y="15956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089904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809744" y="20574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4809744" y="2331720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Cada módulo se valida antes de darlo por terminado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711696" y="1325880"/>
            <a:ext cx="1920240" cy="1691640"/>
          </a:xfrm>
          <a:prstGeom prst="roundRect">
            <a:avLst>
              <a:gd fmla="val 7568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894576" y="1481328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8876" y="15956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8174736" y="14630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894576" y="20574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894576" y="2331720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Retroalimentación: corrección de errores y mejoras de uso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semestre en tres fases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7200" y="3566160"/>
            <a:ext cx="2651760" cy="566928"/>
          </a:xfrm>
          <a:prstGeom prst="roundRect">
            <a:avLst>
              <a:gd fmla="val 193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594360" y="356616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Fase 1  </a:t>
            </a:r>
            <a:r>
              <a:rPr b="0" i="0" lang="en-US" sz="11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Definición del proyecto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246120" y="3566160"/>
            <a:ext cx="2651760" cy="566928"/>
          </a:xfrm>
          <a:prstGeom prst="roundRect">
            <a:avLst>
              <a:gd fmla="val 1935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3383280" y="356616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Fase 2  </a:t>
            </a:r>
            <a:r>
              <a:rPr b="0" i="0" lang="en-US" sz="11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incremental por módulos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035040" y="3566160"/>
            <a:ext cx="2651760" cy="566928"/>
          </a:xfrm>
          <a:prstGeom prst="roundRect">
            <a:avLst>
              <a:gd fmla="val 193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172200" y="356616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Fase 3  </a:t>
            </a:r>
            <a:r>
              <a:rPr b="0" i="0" lang="en-US" sz="11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Validación y presentación final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Por qué Scrum: da flexibilidad con los horarios de cada integrante y calza con la revisión semanal con la docente. Tablero en GitHub Projects.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 · EQUIPO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roles, un producto</a:t>
            </a:r>
            <a:endParaRPr sz="2800"/>
          </a:p>
        </p:txBody>
      </p:sp>
      <p:sp>
        <p:nvSpPr>
          <p:cNvPr id="149" name="Google Shape;149;p5"/>
          <p:cNvSpPr/>
          <p:nvPr/>
        </p:nvSpPr>
        <p:spPr>
          <a:xfrm>
            <a:off x="457200" y="1325880"/>
            <a:ext cx="2651760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640080" y="1481328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4008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640080" y="21031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Javier Malhue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640080" y="235915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Líder de proyecto y base de datos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40080" y="263347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Coordina y representa al equipo. Modelo y gestión de la BD.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291840" y="1325880"/>
            <a:ext cx="2651760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474720" y="1481328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347472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474720" y="21031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Sebastián Altamirano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3474720" y="235915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QA y </a:t>
            </a:r>
            <a:r>
              <a:rPr b="1" lang="en-US" sz="1100">
                <a:solidFill>
                  <a:schemeClr val="accent1"/>
                </a:solidFill>
              </a:rPr>
              <a:t>Testeo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3474720" y="263347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Define los casos de prueba y valida cada entrega antes de la revisión.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126480" y="1325880"/>
            <a:ext cx="2651760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309360" y="1481328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630936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6309360" y="21031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Carlos Echeverría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6309360" y="235915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Fullstack y despliegue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6309360" y="263347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API, app móvil, Docker y entrega continua del APK.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Competencias del perfil de egreso que trabajamos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3657600"/>
            <a:ext cx="2651760" cy="36576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594360" y="36576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Construir programas y rutinas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91840" y="3657600"/>
            <a:ext cx="2651760" cy="36576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3429000" y="36576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Modelo arquitectónico de la solución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126480" y="3657600"/>
            <a:ext cx="2651760" cy="36576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263640" y="36576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Gestión de proyectos informáticos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57200" y="4114800"/>
            <a:ext cx="2651760" cy="36576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594360" y="41148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Proyectos innovadores con valor social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291840" y="4114800"/>
            <a:ext cx="2651760" cy="36576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3429000" y="41148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Propuestas de solución informática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126480" y="4114800"/>
            <a:ext cx="2651760" cy="36576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6263640" y="41148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Desarrollo de software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 · ARQUITECTURA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capas, todo sobre Docker</a:t>
            </a:r>
            <a:endParaRPr sz="2800"/>
          </a:p>
        </p:txBody>
      </p:sp>
      <p:sp>
        <p:nvSpPr>
          <p:cNvPr id="188" name="Google Shape;188;p6"/>
          <p:cNvSpPr/>
          <p:nvPr/>
        </p:nvSpPr>
        <p:spPr>
          <a:xfrm>
            <a:off x="457200" y="1280160"/>
            <a:ext cx="8229600" cy="2514600"/>
          </a:xfrm>
          <a:prstGeom prst="roundRect">
            <a:avLst>
              <a:gd fmla="val 727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40080" y="1389888"/>
            <a:ext cx="347472" cy="347472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1476756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 txBox="1"/>
          <p:nvPr/>
        </p:nvSpPr>
        <p:spPr>
          <a:xfrm>
            <a:off x="1097280" y="138988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Docker Compose: un comando levanta todo el sistema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85800" y="1874520"/>
            <a:ext cx="2286000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" y="2125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1463040" y="2011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móvil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1463040" y="22860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:8081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1005840" y="265176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 Native + Expo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 Calendar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 Location · MapLibre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4952" y="2606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3429000" y="1874520"/>
            <a:ext cx="2286000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611880" y="2011680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26180" y="2125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 txBox="1"/>
          <p:nvPr/>
        </p:nvSpPr>
        <p:spPr>
          <a:xfrm>
            <a:off x="4206240" y="2011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4206240" y="22860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:3000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3749040" y="265176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Node.js + Express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Autenticación JWT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5" name="Google Shape;2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8152" y="2606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/>
          <p:nvPr/>
        </p:nvSpPr>
        <p:spPr>
          <a:xfrm>
            <a:off x="6172200" y="1874520"/>
            <a:ext cx="2286000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355080" y="2011680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9380" y="2125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6949440" y="2011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49440" y="22860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:5432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6492240" y="265176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PostgreSQL 16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PostGIS (geoespacial)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de OpenStreetMap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qué este stack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Un solo lenguaje (TypeScript) en toda la solución, servicios sin costo y PostGIS para resolver la búsqueda por cercanía con datos propios. Confirmado al montar el entorno.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06 · AVANCE DEL PLAN DE TRABAJO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 actividades, 22 completadas</a:t>
            </a:r>
            <a:endParaRPr sz="2800"/>
          </a:p>
        </p:txBody>
      </p:sp>
      <p:graphicFrame>
        <p:nvGraphicFramePr>
          <p:cNvPr id="222" name="Google Shape;222;p7"/>
          <p:cNvGraphicFramePr/>
          <p:nvPr/>
        </p:nvGraphicFramePr>
        <p:xfrm>
          <a:off x="457200" y="1280160"/>
          <a:ext cx="3017520" cy="26517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23" name="Google Shape;223;p7"/>
          <p:cNvSpPr txBox="1"/>
          <p:nvPr/>
        </p:nvSpPr>
        <p:spPr>
          <a:xfrm>
            <a:off x="1325880" y="21488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1325880" y="26974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57200" y="4251960"/>
            <a:ext cx="128016" cy="128016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640080" y="418795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 </a:t>
            </a: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Completadas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783080" y="4251960"/>
            <a:ext cx="128016" cy="128016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965960" y="418795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Ajustadas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788920" y="4251960"/>
            <a:ext cx="128016" cy="128016"/>
          </a:xfrm>
          <a:prstGeom prst="ellipse">
            <a:avLst/>
          </a:prstGeom>
          <a:solidFill>
            <a:srgbClr val="8AA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2971800" y="418795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7"/>
          <p:cNvCxnSpPr/>
          <p:nvPr/>
        </p:nvCxnSpPr>
        <p:spPr>
          <a:xfrm>
            <a:off x="4096512" y="1463040"/>
            <a:ext cx="0" cy="292608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7"/>
          <p:cNvSpPr/>
          <p:nvPr/>
        </p:nvSpPr>
        <p:spPr>
          <a:xfrm>
            <a:off x="4023360" y="1417320"/>
            <a:ext cx="155448" cy="155448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4343400" y="132588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S1–S4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5074920" y="1325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Equipo, problema, stack, alcance y Gantt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023360" y="1947672"/>
            <a:ext cx="155448" cy="155448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4343400" y="185623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5074920" y="18562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Repositorio, entorno con Docker y plan de pruebas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023360" y="2478024"/>
            <a:ext cx="155448" cy="155448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4343400" y="238658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5074920" y="238658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Autenticación (JWT) y modelo de base de datos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023360" y="3008376"/>
            <a:ext cx="155448" cy="155448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4343400" y="291693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5074920" y="2916936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CRUD de mascotas, lista y ficha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023360" y="3538728"/>
            <a:ext cx="155448" cy="155448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4343400" y="344728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5074920" y="344728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Vacunas, desparasitación y calendario consolidado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023360" y="4069080"/>
            <a:ext cx="155448" cy="155448"/>
          </a:xfrm>
          <a:prstGeom prst="ellipse">
            <a:avLst/>
          </a:prstGeom>
          <a:solidFill>
            <a:srgbClr val="8AA09C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4343400" y="397764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5074920" y="39776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Calendario del teléfono (expo-calendar) e informe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4023360" y="452628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Ajustadas: modelo de BD (S7–S9) pasó a Carlos por la ausencia de un integrante. En curso: informe y prueba de Google Calendar en teléfono.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07 · PRODUCTO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ya funciona en la app</a:t>
            </a:r>
            <a:endParaRPr sz="2800"/>
          </a:p>
        </p:txBody>
      </p:sp>
      <p:sp>
        <p:nvSpPr>
          <p:cNvPr id="259" name="Google Shape;259;p8"/>
          <p:cNvSpPr/>
          <p:nvPr/>
        </p:nvSpPr>
        <p:spPr>
          <a:xfrm>
            <a:off x="548640" y="1234440"/>
            <a:ext cx="2286000" cy="3429000"/>
          </a:xfrm>
          <a:prstGeom prst="roundRect">
            <a:avLst>
              <a:gd fmla="val 12000" name="adj"/>
            </a:avLst>
          </a:prstGeom>
          <a:solidFill>
            <a:schemeClr val="dk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40080" y="1325880"/>
            <a:ext cx="2103120" cy="3246120"/>
          </a:xfrm>
          <a:prstGeom prst="roundRect">
            <a:avLst>
              <a:gd fmla="val 95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40080" y="1325880"/>
            <a:ext cx="2103120" cy="914400"/>
          </a:xfrm>
          <a:prstGeom prst="roundRect">
            <a:avLst>
              <a:gd fmla="val 22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822960" y="15544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 mascotas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822960" y="182880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FE8E2"/>
                </a:solidFill>
                <a:latin typeface="Arial"/>
                <a:ea typeface="Arial"/>
                <a:cs typeface="Arial"/>
                <a:sym typeface="Arial"/>
              </a:rPr>
              <a:t>3 mascotas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749808" y="2377440"/>
            <a:ext cx="1883664" cy="548640"/>
          </a:xfrm>
          <a:prstGeom prst="roundRect">
            <a:avLst>
              <a:gd fmla="val 2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841248" y="2468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1298448" y="24505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Rocky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1298448" y="26517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Perro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920240" y="2542032"/>
            <a:ext cx="640080" cy="219456"/>
          </a:xfrm>
          <a:prstGeom prst="roundRect">
            <a:avLst>
              <a:gd fmla="val 50000" name="adj"/>
            </a:avLst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1920240" y="254203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4F4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84F49"/>
                </a:solidFill>
                <a:latin typeface="Arial"/>
                <a:ea typeface="Arial"/>
                <a:cs typeface="Arial"/>
                <a:sym typeface="Arial"/>
              </a:rPr>
              <a:t>Al día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749808" y="3017520"/>
            <a:ext cx="1883664" cy="548640"/>
          </a:xfrm>
          <a:prstGeom prst="roundRect">
            <a:avLst>
              <a:gd fmla="val 2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841248" y="310896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841248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1298448" y="30906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Michi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1298448" y="32918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Gato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920240" y="3182112"/>
            <a:ext cx="640080" cy="219456"/>
          </a:xfrm>
          <a:prstGeom prst="roundRect">
            <a:avLst>
              <a:gd fmla="val 50000" name="adj"/>
            </a:avLst>
          </a:prstGeom>
          <a:solidFill>
            <a:srgbClr val="FFF0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1920240" y="318211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45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B4500"/>
                </a:solidFill>
                <a:latin typeface="Arial"/>
                <a:ea typeface="Arial"/>
                <a:cs typeface="Arial"/>
                <a:sym typeface="Arial"/>
              </a:rPr>
              <a:t>Próximo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49808" y="3657600"/>
            <a:ext cx="1883664" cy="548640"/>
          </a:xfrm>
          <a:prstGeom prst="roundRect">
            <a:avLst>
              <a:gd fmla="val 2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841248" y="374904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841248" y="3749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1298448" y="37307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Luna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1298448" y="39319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Perro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920240" y="3822192"/>
            <a:ext cx="640080" cy="219456"/>
          </a:xfrm>
          <a:prstGeom prst="roundRect">
            <a:avLst>
              <a:gd fmla="val 50000" name="adj"/>
            </a:avLst>
          </a:prstGeom>
          <a:solidFill>
            <a:srgbClr val="C5D7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1920240" y="382219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37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A7371"/>
                </a:solidFill>
                <a:latin typeface="Arial"/>
                <a:ea typeface="Arial"/>
                <a:cs typeface="Arial"/>
                <a:sym typeface="Arial"/>
              </a:rPr>
              <a:t>Sin dosis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749808" y="4297680"/>
            <a:ext cx="1883664" cy="20116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749808" y="4297680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F1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3F10"/>
                </a:solidFill>
                <a:latin typeface="Arial"/>
                <a:ea typeface="Arial"/>
                <a:cs typeface="Arial"/>
                <a:sym typeface="Arial"/>
              </a:rPr>
              <a:t>+ Agregar mascota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291840" y="1271016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140" y="13853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 txBox="1"/>
          <p:nvPr/>
        </p:nvSpPr>
        <p:spPr>
          <a:xfrm>
            <a:off x="3931920" y="123444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Cuenta segura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3931920" y="149047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Registro e inicio de sesión con contraseña con hash y JWT.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291840" y="1938528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6140" y="20528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 txBox="1"/>
          <p:nvPr/>
        </p:nvSpPr>
        <p:spPr>
          <a:xfrm>
            <a:off x="3931920" y="1901952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por mascota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3931920" y="215798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Crear, ver, editar y eliminar, con especie y raza.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291840" y="2606040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6140" y="27203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/>
        </p:nvSpPr>
        <p:spPr>
          <a:xfrm>
            <a:off x="3931920" y="256946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Carnet sanitario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3931920" y="282549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Vacunas y desparasitaciones por especie, con próximo refuerzo.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291840" y="327355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6140" y="33878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 txBox="1"/>
          <p:nvPr/>
        </p:nvSpPr>
        <p:spPr>
          <a:xfrm>
            <a:off x="3931920" y="323697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Calendario consolidado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3931920" y="34930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Todas las dosis en orden, y botón para agregarlas al teléfono.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291840" y="3941064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6140" y="405536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8"/>
          <p:cNvSpPr txBox="1"/>
          <p:nvPr/>
        </p:nvSpPr>
        <p:spPr>
          <a:xfrm>
            <a:off x="3931920" y="39044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Cotutores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3931920" y="41605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Una mascota compartida entre varias personas de la familia.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08 · CALIDAD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Probamos antes de dar algo por terminado</a:t>
            </a:r>
            <a:endParaRPr sz="2800"/>
          </a:p>
        </p:txBody>
      </p:sp>
      <p:sp>
        <p:nvSpPr>
          <p:cNvPr id="315" name="Google Shape;315;p9"/>
          <p:cNvSpPr/>
          <p:nvPr/>
        </p:nvSpPr>
        <p:spPr>
          <a:xfrm>
            <a:off x="457200" y="1280160"/>
            <a:ext cx="2651760" cy="1417320"/>
          </a:xfrm>
          <a:prstGeom prst="roundRect">
            <a:avLst>
              <a:gd fmla="val 9032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 txBox="1"/>
          <p:nvPr/>
        </p:nvSpPr>
        <p:spPr>
          <a:xfrm>
            <a:off x="640080" y="13716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19/19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640080" y="19659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casos de registro aprobados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correo duplicado, clave débil, campos vacíos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3291840" y="1280160"/>
            <a:ext cx="2651760" cy="1417320"/>
          </a:xfrm>
          <a:prstGeom prst="roundRect">
            <a:avLst>
              <a:gd fmla="val 9032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3474720" y="13716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8/8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3474720" y="19659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casos de calendario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estados vacíos, orden y edición en vivo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126480" y="1280160"/>
            <a:ext cx="2651760" cy="1417320"/>
          </a:xfrm>
          <a:prstGeom prst="roundRect">
            <a:avLst>
              <a:gd fmla="val 9032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6309360" y="13716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100/100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accesibilidad en Lighthouse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contraste WCAG AA y controles de 44 px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457200" y="2880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Qué encontró QA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02920" y="3236976"/>
            <a:ext cx="128016" cy="12801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777240" y="320040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Fechas y dosis (12 casos): </a:t>
            </a:r>
            <a:r>
              <a:rPr b="0" i="0" lang="en-US" sz="12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El refuerzo el mismo día de la aplicación y fechas futuras pasaban sin bloqueo.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02920" y="3739896"/>
            <a:ext cx="128016" cy="12801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 txBox="1"/>
          <p:nvPr/>
        </p:nvSpPr>
        <p:spPr>
          <a:xfrm>
            <a:off x="777240" y="3703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Usabilidad de la lista y ficha: </a:t>
            </a:r>
            <a:r>
              <a:rPr b="0" i="0" lang="en-US" sz="12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El traductor del navegador alteraba textos y “Volver” acumulaba pantallas.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02920" y="4242816"/>
            <a:ext cx="128016" cy="12801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 txBox="1"/>
          <p:nvPr/>
        </p:nvSpPr>
        <p:spPr>
          <a:xfrm>
            <a:off x="777240" y="420624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Registro: </a:t>
            </a:r>
            <a:r>
              <a:rPr b="0" i="0" lang="en-US" sz="12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Los errores se muestran al enviar, no por campo.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09 · AJUSTES AL PLAN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nos frenó y cómo lo resolvimos</a:t>
            </a:r>
            <a:endParaRPr sz="2800"/>
          </a:p>
        </p:txBody>
      </p:sp>
      <p:sp>
        <p:nvSpPr>
          <p:cNvPr id="342" name="Google Shape;342;p10"/>
          <p:cNvSpPr txBox="1"/>
          <p:nvPr/>
        </p:nvSpPr>
        <p:spPr>
          <a:xfrm>
            <a:off x="1097280" y="128016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OBSTÁCULO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4937760" y="128016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NUESTRA RESPUESTA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57200" y="1554480"/>
            <a:ext cx="5486400" cy="822960"/>
          </a:xfrm>
          <a:prstGeom prst="roundRect">
            <a:avLst>
              <a:gd fmla="val 15556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594360" y="1728216"/>
            <a:ext cx="475488" cy="475488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18470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 txBox="1"/>
          <p:nvPr/>
        </p:nvSpPr>
        <p:spPr>
          <a:xfrm>
            <a:off x="1234440" y="155448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Horarios cruzados por las prácticas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8" name="Google Shape;3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7640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 txBox="1"/>
          <p:nvPr/>
        </p:nvSpPr>
        <p:spPr>
          <a:xfrm>
            <a:off x="4389120" y="155448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Sprints semanales flexibles y sesión fija con la docente.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57200" y="2514600"/>
            <a:ext cx="5486400" cy="822960"/>
          </a:xfrm>
          <a:prstGeom prst="roundRect">
            <a:avLst>
              <a:gd fmla="val 15556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94360" y="2688336"/>
            <a:ext cx="475488" cy="475488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" y="28072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 txBox="1"/>
          <p:nvPr/>
        </p:nvSpPr>
        <p:spPr>
          <a:xfrm>
            <a:off x="1234440" y="251460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Ausencia temporal de un integrante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4" name="Google Shape;35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7640" y="2798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0"/>
          <p:cNvSpPr txBox="1"/>
          <p:nvPr/>
        </p:nvSpPr>
        <p:spPr>
          <a:xfrm>
            <a:off x="4389120" y="251460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El modelo de base de datos (S7–S9) pasó a Carlos y cambió de plazo.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57200" y="3474720"/>
            <a:ext cx="5486400" cy="822960"/>
          </a:xfrm>
          <a:prstGeom prst="roundRect">
            <a:avLst>
              <a:gd fmla="val 15556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94360" y="3648456"/>
            <a:ext cx="475488" cy="475488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2" y="3767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 txBox="1"/>
          <p:nvPr/>
        </p:nvSpPr>
        <p:spPr>
          <a:xfrm>
            <a:off x="1234440" y="34747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Fricción al compartir código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0" name="Google Shape;3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7640" y="3758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0"/>
          <p:cNvSpPr txBox="1"/>
          <p:nvPr/>
        </p:nvSpPr>
        <p:spPr>
          <a:xfrm>
            <a:off x="4389120" y="347472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De carpetas separadas a ramas main/dev, con una rama por ticket.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6217920" y="1554480"/>
            <a:ext cx="2468880" cy="2697480"/>
          </a:xfrm>
          <a:prstGeom prst="roundRect">
            <a:avLst>
              <a:gd fmla="val 740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6446520" y="1737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820" y="18516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0"/>
          <p:cNvSpPr txBox="1"/>
          <p:nvPr/>
        </p:nvSpPr>
        <p:spPr>
          <a:xfrm>
            <a:off x="6446520" y="22860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 que ayudó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 txBox="1"/>
          <p:nvPr/>
        </p:nvSpPr>
        <p:spPr>
          <a:xfrm>
            <a:off x="6446520" y="260604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FE8E2"/>
                </a:solidFill>
                <a:latin typeface="Arial"/>
                <a:ea typeface="Arial"/>
                <a:cs typeface="Arial"/>
                <a:sym typeface="Arial"/>
              </a:rPr>
              <a:t>IA bajo supervisión (Antigravity) para redactar los informes de cada prueba, y Docker para tener el mismo entorno en todos los equipos.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10 · AJUSTES TÉCNICOS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reproducible y APK automático</a:t>
            </a:r>
            <a:endParaRPr sz="2800"/>
          </a:p>
        </p:txBody>
      </p:sp>
      <p:sp>
        <p:nvSpPr>
          <p:cNvPr id="375" name="Google Shape;375;p11"/>
          <p:cNvSpPr txBox="1"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de pruebas con Docker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457200" y="1645920"/>
            <a:ext cx="3840480" cy="594360"/>
          </a:xfrm>
          <a:prstGeom prst="roundRect">
            <a:avLst>
              <a:gd fmla="val 1846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64008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--build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57200" y="2423160"/>
            <a:ext cx="3840480" cy="566928"/>
          </a:xfrm>
          <a:prstGeom prst="roundRect">
            <a:avLst>
              <a:gd fmla="val 22581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566928" y="2514600"/>
            <a:ext cx="384048" cy="384048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" y="261061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 txBox="1"/>
          <p:nvPr/>
        </p:nvSpPr>
        <p:spPr>
          <a:xfrm>
            <a:off x="1097280" y="2423160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meinpets_db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PostgreSQL 16 + PostGIS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57200" y="3108960"/>
            <a:ext cx="3840480" cy="566928"/>
          </a:xfrm>
          <a:prstGeom prst="roundRect">
            <a:avLst>
              <a:gd fmla="val 22581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566928" y="3200400"/>
            <a:ext cx="384048" cy="384048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" y="329641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1"/>
          <p:cNvSpPr txBox="1"/>
          <p:nvPr/>
        </p:nvSpPr>
        <p:spPr>
          <a:xfrm>
            <a:off x="1097280" y="3108960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meinpets_api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API Express :3000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57200" y="3794760"/>
            <a:ext cx="3840480" cy="566928"/>
          </a:xfrm>
          <a:prstGeom prst="roundRect">
            <a:avLst>
              <a:gd fmla="val 22581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566928" y="3886200"/>
            <a:ext cx="384048" cy="384048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" y="398221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 txBox="1"/>
          <p:nvPr/>
        </p:nvSpPr>
        <p:spPr>
          <a:xfrm>
            <a:off x="1097280" y="3794760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meinpets_movil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Expo Web :8081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APK en cada push a dev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4754880" y="1645920"/>
            <a:ext cx="3931920" cy="731520"/>
          </a:xfrm>
          <a:prstGeom prst="roundRect">
            <a:avLst>
              <a:gd fmla="val 17500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4892040" y="1773936"/>
            <a:ext cx="475488" cy="475488"/>
          </a:xfrm>
          <a:prstGeom prst="ellipse">
            <a:avLst/>
          </a:prstGeom>
          <a:solidFill>
            <a:srgbClr val="084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0912" y="18928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1"/>
          <p:cNvSpPr txBox="1"/>
          <p:nvPr/>
        </p:nvSpPr>
        <p:spPr>
          <a:xfrm>
            <a:off x="5532120" y="164592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push a dev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Cambios en la app móvil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5" name="Google Shape;39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6583680" y="239572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1"/>
          <p:cNvSpPr/>
          <p:nvPr/>
        </p:nvSpPr>
        <p:spPr>
          <a:xfrm>
            <a:off x="4754880" y="2560320"/>
            <a:ext cx="3931920" cy="731520"/>
          </a:xfrm>
          <a:prstGeom prst="roundRect">
            <a:avLst>
              <a:gd fmla="val 17500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4892040" y="2688336"/>
            <a:ext cx="475488" cy="475488"/>
          </a:xfrm>
          <a:prstGeom prst="ellipse">
            <a:avLst/>
          </a:prstGeom>
          <a:solidFill>
            <a:srgbClr val="084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10912" y="28072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1"/>
          <p:cNvSpPr txBox="1"/>
          <p:nvPr/>
        </p:nvSpPr>
        <p:spPr>
          <a:xfrm>
            <a:off x="5532120" y="256032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Instala, revisa tipos y compila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0" name="Google Shape;40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6583680" y="331012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1"/>
          <p:cNvSpPr/>
          <p:nvPr/>
        </p:nvSpPr>
        <p:spPr>
          <a:xfrm>
            <a:off x="4754880" y="3474720"/>
            <a:ext cx="3931920" cy="731520"/>
          </a:xfrm>
          <a:prstGeom prst="roundRect">
            <a:avLst>
              <a:gd fmla="val 17500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4892040" y="3602736"/>
            <a:ext cx="475488" cy="475488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3" name="Google Shape;40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10912" y="37216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 txBox="1"/>
          <p:nvPr/>
        </p:nvSpPr>
        <p:spPr>
          <a:xfrm>
            <a:off x="5532120" y="347472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 con el APK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Descargable para QA y la profesora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 txBox="1"/>
          <p:nvPr/>
        </p:nvSpPr>
        <p:spPr>
          <a:xfrm>
            <a:off x="4754880" y="43891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La API de prueba corre en Oracle Cloud (capa gratuita), así el APK funciona sin montar nada.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2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11 · EVIDENCIAS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2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entregamos como respaldo</a:t>
            </a:r>
            <a:endParaRPr sz="2800"/>
          </a:p>
        </p:txBody>
      </p:sp>
      <p:sp>
        <p:nvSpPr>
          <p:cNvPr id="414" name="Google Shape;414;p12"/>
          <p:cNvSpPr/>
          <p:nvPr/>
        </p:nvSpPr>
        <p:spPr>
          <a:xfrm>
            <a:off x="457200" y="132588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604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2"/>
          <p:cNvSpPr txBox="1"/>
          <p:nvPr/>
        </p:nvSpPr>
        <p:spPr>
          <a:xfrm>
            <a:off x="640080" y="20756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APK de MeinPets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640080" y="2331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Compilado, con la API desplegada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2542032" y="132588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2724912" y="149047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9212" y="1604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2"/>
          <p:cNvSpPr txBox="1"/>
          <p:nvPr/>
        </p:nvSpPr>
        <p:spPr>
          <a:xfrm>
            <a:off x="2724912" y="20756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de pruebas v1.0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2724912" y="2331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Funciones F01–F08 y criterios de aceptación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4626864" y="132588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4809744" y="149047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6" name="Google Shape;42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4044" y="1604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2"/>
          <p:cNvSpPr txBox="1"/>
          <p:nvPr/>
        </p:nvSpPr>
        <p:spPr>
          <a:xfrm>
            <a:off x="4809744" y="20756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usuario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4809744" y="2331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19 casos: duplicado y clave débil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711696" y="132588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6894576" y="149047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8876" y="16047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2"/>
          <p:cNvSpPr txBox="1"/>
          <p:nvPr/>
        </p:nvSpPr>
        <p:spPr>
          <a:xfrm>
            <a:off x="6894576" y="20756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Fechas y dosis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6894576" y="2331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12 casos: validación y duplicados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57200" y="301752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6" name="Google Shape;43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380" y="32964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2"/>
          <p:cNvSpPr txBox="1"/>
          <p:nvPr/>
        </p:nvSpPr>
        <p:spPr>
          <a:xfrm>
            <a:off x="640080" y="37673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Calendario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640080" y="402336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8 casos: sin vacunas y con refuerzos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2542032" y="301752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2724912" y="318211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9212" y="32964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2"/>
          <p:cNvSpPr txBox="1"/>
          <p:nvPr/>
        </p:nvSpPr>
        <p:spPr>
          <a:xfrm>
            <a:off x="2724912" y="37673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Usabilidad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2724912" y="402336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Lista y ficha de mascota, WCAG AA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626864" y="301752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4809744" y="318211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4044" y="32964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2"/>
          <p:cNvSpPr txBox="1"/>
          <p:nvPr/>
        </p:nvSpPr>
        <p:spPr>
          <a:xfrm>
            <a:off x="4809744" y="37673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BD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 txBox="1"/>
          <p:nvPr/>
        </p:nvSpPr>
        <p:spPr>
          <a:xfrm>
            <a:off x="4809744" y="402336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Diagrama del esquema (imagen)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711696" y="3017520"/>
            <a:ext cx="1920240" cy="1508760"/>
          </a:xfrm>
          <a:prstGeom prst="roundRect">
            <a:avLst>
              <a:gd fmla="val 8485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6894576" y="3182112"/>
            <a:ext cx="457200" cy="457200"/>
          </a:xfrm>
          <a:prstGeom prst="ellipse">
            <a:avLst/>
          </a:prstGeom>
          <a:solidFill>
            <a:srgbClr val="D6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08876" y="32964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2"/>
          <p:cNvSpPr txBox="1"/>
          <p:nvPr/>
        </p:nvSpPr>
        <p:spPr>
          <a:xfrm>
            <a:off x="6894576" y="37673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Repositorio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6894576" y="402336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GitHub: ramas main y dev, y tablero de Projects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/>
        </p:nvSpPr>
        <p:spPr>
          <a:xfrm>
            <a:off x="457200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12 · PROYECCIÓN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 txBox="1"/>
          <p:nvPr>
            <p:ph type="title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Qué sigue y hacia dónde vamos</a:t>
            </a:r>
            <a:endParaRPr sz="2800"/>
          </a:p>
        </p:txBody>
      </p:sp>
      <p:sp>
        <p:nvSpPr>
          <p:cNvPr id="462" name="Google Shape;462;p13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fmla="val 3889" name="adj"/>
            </a:avLst>
          </a:prstGeom>
          <a:solidFill>
            <a:schemeClr val="lt1"/>
          </a:solidFill>
          <a:ln>
            <a:noFill/>
          </a:ln>
          <a:effectLst>
            <a:outerShdw blurRad="101600" rotWithShape="0" algn="bl" dir="5400000" dist="25400">
              <a:srgbClr val="0F2A2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0B6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3"/>
          <p:cNvSpPr txBox="1"/>
          <p:nvPr/>
        </p:nvSpPr>
        <p:spPr>
          <a:xfrm>
            <a:off x="1280160" y="1508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3"/>
          <p:cNvSpPr txBox="1"/>
          <p:nvPr/>
        </p:nvSpPr>
        <p:spPr>
          <a:xfrm>
            <a:off x="1005840" y="2148840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 con MapLibre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Establecimientos de OpenStreetMap por categoría.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731520" y="2807208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 txBox="1"/>
          <p:nvPr/>
        </p:nvSpPr>
        <p:spPr>
          <a:xfrm>
            <a:off x="1005840" y="2752344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en teléfono real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Calendario con Google Calendar y registrar la evidencia.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731520" y="3410712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 txBox="1"/>
          <p:nvPr/>
        </p:nvSpPr>
        <p:spPr>
          <a:xfrm>
            <a:off x="1005840" y="335584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Pruebas de sesión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Token </a:t>
            </a:r>
            <a:r>
              <a:rPr lang="en-US" sz="1050">
                <a:solidFill>
                  <a:schemeClr val="accent4"/>
                </a:solidFill>
              </a:rPr>
              <a:t>invalido</a:t>
            </a: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y token expirado (issue #16).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731520" y="4014216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"/>
          <p:cNvSpPr txBox="1"/>
          <p:nvPr/>
        </p:nvSpPr>
        <p:spPr>
          <a:xfrm>
            <a:off x="1005840" y="3959352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Resolver hallazgos de QA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Casos borde de fechas y mejoras de usabilidad.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fmla="val 555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34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3"/>
          <p:cNvSpPr txBox="1"/>
          <p:nvPr/>
        </p:nvSpPr>
        <p:spPr>
          <a:xfrm>
            <a:off x="5486400" y="1508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Intereses y proyección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 txBox="1"/>
          <p:nvPr/>
        </p:nvSpPr>
        <p:spPr>
          <a:xfrm>
            <a:off x="4937760" y="2148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Lo que más profundizamos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5120640" y="242316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Docker para montar entornos de prueba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Orquestación de agentes de IA para código y automatización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 y GitHub Projects para versiones y gestión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3"/>
          <p:cNvSpPr txBox="1"/>
          <p:nvPr/>
        </p:nvSpPr>
        <p:spPr>
          <a:xfrm>
            <a:off x="4937760" y="36118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Meta al terminar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3"/>
          <p:cNvSpPr txBox="1"/>
          <p:nvPr/>
        </p:nvSpPr>
        <p:spPr>
          <a:xfrm>
            <a:off x="4937760" y="3858768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Una app que se mantenga sola con ingresos por publicidad, sin costo para nosotros.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4"/>
          <p:cNvSpPr/>
          <p:nvPr/>
        </p:nvSpPr>
        <p:spPr>
          <a:xfrm>
            <a:off x="-1645920" y="3017520"/>
            <a:ext cx="5120640" cy="5120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private/tmp/claude-501/-Users-carlosecheverria-Documents-PetMap-claude/a39869a4-d05f-446e-8751-bc81e10d8634/scratchpad/build/logo.png" id="489" name="Google Shape;4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82296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4"/>
          <p:cNvSpPr txBox="1"/>
          <p:nvPr/>
        </p:nvSpPr>
        <p:spPr>
          <a:xfrm>
            <a:off x="548640" y="11887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0" i="0" sz="6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4"/>
          <p:cNvSpPr txBox="1"/>
          <p:nvPr/>
        </p:nvSpPr>
        <p:spPr>
          <a:xfrm>
            <a:off x="548640" y="22402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¿Preguntas?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4"/>
          <p:cNvSpPr txBox="1"/>
          <p:nvPr/>
        </p:nvSpPr>
        <p:spPr>
          <a:xfrm>
            <a:off x="548640" y="356616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Javier Malhue · Sebastián Altamirano · Carlos Echeverría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FE8E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FE8E2"/>
                </a:solidFill>
                <a:latin typeface="Arial"/>
                <a:ea typeface="Arial"/>
                <a:cs typeface="Arial"/>
                <a:sym typeface="Arial"/>
              </a:rPr>
              <a:t>MeinPets · Proyecto APT122 · Duoc UC, Sede Valparaíso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inPets">
  <a:themeElements>
    <a:clrScheme name="MeinPets">
      <a:dk1>
        <a:srgbClr val="0F2A2A"/>
      </a:dk1>
      <a:lt1>
        <a:srgbClr val="FFFFFF"/>
      </a:lt1>
      <a:dk2>
        <a:srgbClr val="084F49"/>
      </a:dk2>
      <a:lt2>
        <a:srgbClr val="F1F5F2"/>
      </a:lt2>
      <a:accent1>
        <a:srgbClr val="0B6B63"/>
      </a:accent1>
      <a:accent2>
        <a:srgbClr val="D6EBE4"/>
      </a:accent2>
      <a:accent3>
        <a:srgbClr val="E4F25A"/>
      </a:accent3>
      <a:accent4>
        <a:srgbClr val="5A7371"/>
      </a:accent4>
      <a:accent5>
        <a:srgbClr val="C5D7D1"/>
      </a:accent5>
      <a:accent6>
        <a:srgbClr val="E0A100"/>
      </a:accent6>
      <a:hlink>
        <a:srgbClr val="0B6B63"/>
      </a:hlink>
      <a:folHlink>
        <a:srgbClr val="5A73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inPets">
  <a:themeElements>
    <a:clrScheme name="MeinPets">
      <a:dk1>
        <a:srgbClr val="0F2A2A"/>
      </a:dk1>
      <a:lt1>
        <a:srgbClr val="FFFFFF"/>
      </a:lt1>
      <a:dk2>
        <a:srgbClr val="084F49"/>
      </a:dk2>
      <a:lt2>
        <a:srgbClr val="F1F5F2"/>
      </a:lt2>
      <a:accent1>
        <a:srgbClr val="0B6B63"/>
      </a:accent1>
      <a:accent2>
        <a:srgbClr val="D6EBE4"/>
      </a:accent2>
      <a:accent3>
        <a:srgbClr val="E4F25A"/>
      </a:accent3>
      <a:accent4>
        <a:srgbClr val="5A7371"/>
      </a:accent4>
      <a:accent5>
        <a:srgbClr val="C5D7D1"/>
      </a:accent5>
      <a:accent6>
        <a:srgbClr val="E0A100"/>
      </a:accent6>
      <a:hlink>
        <a:srgbClr val="0B6B63"/>
      </a:hlink>
      <a:folHlink>
        <a:srgbClr val="5A73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2026-10-19T01:37:20Z</dcterms:created>
  <dc:creator>Equipo MeinPets</dc:creator>
</cp:coreProperties>
</file>